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834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94384" y="1828800"/>
            <a:ext cx="10515600" cy="1626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rPr lang="en-US" sz="2000" dirty="0"/>
              <a:t>Week 2</a:t>
            </a:r>
          </a:p>
          <a:p>
            <a:pPr>
              <a:spcAft>
                <a:spcPts val="7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rPr dirty="0"/>
              <a:t>Network Traffic Analysis,</a:t>
            </a:r>
          </a:p>
          <a:p>
            <a:pPr>
              <a:spcAft>
                <a:spcPts val="7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rPr dirty="0"/>
              <a:t>Nmap and Windows Logging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12355" y="4711953"/>
            <a:ext cx="3203258" cy="1102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DCE9EF"/>
                </a:solidFill>
                <a:latin typeface="Aptos"/>
              </a:defRPr>
            </a:pPr>
            <a:r>
              <a:rPr lang="en-US" dirty="0"/>
              <a:t>Name: Kunal Jain</a:t>
            </a:r>
          </a:p>
          <a:p>
            <a:pPr>
              <a:spcAft>
                <a:spcPts val="700"/>
              </a:spcAft>
              <a:defRPr sz="1800" b="0">
                <a:solidFill>
                  <a:srgbClr val="DCE9EF"/>
                </a:solidFill>
                <a:latin typeface="Aptos"/>
              </a:defRPr>
            </a:pPr>
            <a:r>
              <a:rPr lang="en-US" dirty="0"/>
              <a:t>Organization: DG Interns Hub</a:t>
            </a:r>
          </a:p>
          <a:p>
            <a:pPr>
              <a:spcAft>
                <a:spcPts val="700"/>
              </a:spcAft>
              <a:defRPr sz="1800" b="0">
                <a:solidFill>
                  <a:srgbClr val="DCE9EF"/>
                </a:solidFill>
                <a:latin typeface="Aptos"/>
              </a:defRPr>
            </a:pPr>
            <a:r>
              <a:rPr lang="en-US" dirty="0"/>
              <a:t>Date: 30 Oct 2026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59436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5324B"/>
                </a:solidFill>
                <a:latin typeface="Aptos"/>
              </a:defRPr>
            </a:pPr>
            <a:r>
              <a:t>Week 2: purpose and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11155680" cy="32004"/>
          </a:xfrm>
          <a:prstGeom prst="rect">
            <a:avLst/>
          </a:prstGeom>
          <a:solidFill>
            <a:srgbClr val="236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899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83640"/>
                </a:solidFill>
                <a:latin typeface="Aptos"/>
              </a:defRPr>
            </a:pPr>
            <a:r>
              <a:t>• Understand how TCP connections are established, used and closed.</a:t>
            </a:r>
          </a:p>
          <a:p>
            <a:pPr>
              <a:spcAft>
                <a:spcPts val="700"/>
              </a:spcAft>
              <a:defRPr sz="1900" b="0">
                <a:solidFill>
                  <a:srgbClr val="283640"/>
                </a:solidFill>
                <a:latin typeface="Aptos"/>
              </a:defRPr>
            </a:pPr>
            <a:r>
              <a:t>• Inspect DNS, HTTP/TLS, ARP, ICMP and SMB traffic.</a:t>
            </a:r>
          </a:p>
          <a:p>
            <a:pPr>
              <a:spcAft>
                <a:spcPts val="700"/>
              </a:spcAft>
              <a:defRPr sz="1900" b="0">
                <a:solidFill>
                  <a:srgbClr val="283640"/>
                </a:solidFill>
                <a:latin typeface="Aptos"/>
              </a:defRPr>
            </a:pPr>
            <a:r>
              <a:t>• Use Wireshark filters to isolate relevant packets.</a:t>
            </a:r>
          </a:p>
          <a:p>
            <a:pPr>
              <a:spcAft>
                <a:spcPts val="700"/>
              </a:spcAft>
              <a:defRPr sz="1900" b="0">
                <a:solidFill>
                  <a:srgbClr val="283640"/>
                </a:solidFill>
                <a:latin typeface="Aptos"/>
              </a:defRPr>
            </a:pPr>
            <a:r>
              <a:t>• Compare Nmap scan methods and their network footprints.</a:t>
            </a:r>
          </a:p>
          <a:p>
            <a:pPr>
              <a:spcAft>
                <a:spcPts val="700"/>
              </a:spcAft>
              <a:defRPr sz="1900" b="0">
                <a:solidFill>
                  <a:srgbClr val="283640"/>
                </a:solidFill>
                <a:latin typeface="Aptos"/>
              </a:defRPr>
            </a:pPr>
            <a:r>
              <a:t>• Read Windows Security events and investigate authentication/account activity.</a:t>
            </a:r>
          </a:p>
          <a:p>
            <a:pPr>
              <a:spcAft>
                <a:spcPts val="700"/>
              </a:spcAft>
              <a:defRPr sz="1900" b="0">
                <a:solidFill>
                  <a:srgbClr val="283640"/>
                </a:solidFill>
                <a:latin typeface="Aptos"/>
              </a:defRPr>
            </a:pPr>
            <a:r>
              <a:t>• Connect network evidence with endpoint logs for SOC analysis.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3796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47885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59436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5324B"/>
                </a:solidFill>
                <a:latin typeface="Aptos"/>
              </a:defRPr>
            </a:pPr>
            <a:r>
              <a:t>TCP handshake and teardown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11155680" cy="32004"/>
          </a:xfrm>
          <a:prstGeom prst="rect">
            <a:avLst/>
          </a:prstGeom>
          <a:solidFill>
            <a:srgbClr val="236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02894" y="1367028"/>
            <a:ext cx="11027093" cy="2205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83640"/>
                </a:solidFill>
                <a:latin typeface="Aptos"/>
              </a:defRPr>
            </a:pPr>
            <a:r>
              <a:t>• Handshake: SYN → SYN/ACK → ACK. The client requests a connection; the server acknowledges and offers its sequence number; the client confirms.</a:t>
            </a:r>
          </a:p>
          <a:p>
            <a:pPr>
              <a:spcAft>
                <a:spcPts val="700"/>
              </a:spcAft>
              <a:defRPr sz="1900" b="0">
                <a:solidFill>
                  <a:srgbClr val="283640"/>
                </a:solidFill>
                <a:latin typeface="Aptos"/>
              </a:defRPr>
            </a:pPr>
            <a:r>
              <a:t>• Data exchange follows once the connection is established.</a:t>
            </a:r>
          </a:p>
          <a:p>
            <a:pPr>
              <a:spcAft>
                <a:spcPts val="700"/>
              </a:spcAft>
              <a:defRPr sz="1900" b="0">
                <a:solidFill>
                  <a:srgbClr val="283640"/>
                </a:solidFill>
                <a:latin typeface="Aptos"/>
              </a:defRPr>
            </a:pPr>
            <a:r>
              <a:t>• Graceful teardown commonly uses FIN/ACK exchanges in both directions.</a:t>
            </a:r>
          </a:p>
          <a:p>
            <a:pPr>
              <a:spcAft>
                <a:spcPts val="700"/>
              </a:spcAft>
              <a:defRPr sz="1900" b="0">
                <a:solidFill>
                  <a:srgbClr val="283640"/>
                </a:solidFill>
                <a:latin typeface="Aptos"/>
              </a:defRPr>
            </a:pPr>
            <a:r>
              <a:t>• RST abruptly resets a connection; it is not a normal graceful close.</a:t>
            </a:r>
          </a:p>
          <a:p>
            <a:pPr>
              <a:spcAft>
                <a:spcPts val="700"/>
              </a:spcAft>
              <a:defRPr sz="1900" b="0">
                <a:solidFill>
                  <a:srgbClr val="283640"/>
                </a:solidFill>
                <a:latin typeface="Aptos"/>
              </a:defRPr>
            </a:pPr>
            <a:r>
              <a:t>• Flags: SYN (start), ACK (acknowledge), FIN (finish), RST (reset), PSH (push data), URG (urgent pointer).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3796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47885"/>
                </a:solidFill>
                <a:latin typeface="Aptos"/>
              </a:defRPr>
            </a:pPr>
            <a:r>
              <a:t>3</a:t>
            </a:r>
          </a:p>
        </p:txBody>
      </p:sp>
      <p:pic>
        <p:nvPicPr>
          <p:cNvPr id="1028" name="Picture 4" descr="TCP Working: 3-Way Handshake &amp; Reliable Communication">
            <a:extLst>
              <a:ext uri="{FF2B5EF4-FFF2-40B4-BE49-F238E27FC236}">
                <a16:creationId xmlns:a16="http://schemas.microsoft.com/office/drawing/2014/main" id="{E2B07AD2-9274-6689-3D84-A3181391C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" y="3747135"/>
            <a:ext cx="4186238" cy="2790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4FD055F-C8F6-129D-E6AA-93A29B2EE2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t="37342" r="-229" b="42766"/>
          <a:stretch>
            <a:fillRect/>
          </a:stretch>
        </p:blipFill>
        <p:spPr>
          <a:xfrm>
            <a:off x="4718209" y="4366321"/>
            <a:ext cx="7288587" cy="137807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383476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5324B"/>
                </a:solidFill>
                <a:latin typeface="Aptos"/>
              </a:defRPr>
            </a:pPr>
            <a:r>
              <a:rPr dirty="0"/>
              <a:t>What to inspect in common protocols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4840" y="906530"/>
            <a:ext cx="11155680" cy="32004"/>
          </a:xfrm>
          <a:prstGeom prst="rect">
            <a:avLst/>
          </a:prstGeom>
          <a:solidFill>
            <a:srgbClr val="236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45745" y="1240858"/>
            <a:ext cx="4697730" cy="5219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83640"/>
                </a:solidFill>
                <a:latin typeface="Aptos"/>
              </a:defRPr>
            </a:pPr>
            <a:r>
              <a:rPr dirty="0"/>
              <a:t>• DNS: query volume, unusual/random domains, repeated failures, unexpected resolvers.</a:t>
            </a:r>
          </a:p>
          <a:p>
            <a:pPr>
              <a:spcAft>
                <a:spcPts val="700"/>
              </a:spcAft>
              <a:defRPr sz="1900" b="0">
                <a:solidFill>
                  <a:srgbClr val="283640"/>
                </a:solidFill>
                <a:latin typeface="Aptos"/>
              </a:defRPr>
            </a:pPr>
            <a:r>
              <a:rPr dirty="0"/>
              <a:t>• HTTP: methods, URI, user agent, cleartext credentials, unexpected uploads or destinations.</a:t>
            </a:r>
          </a:p>
          <a:p>
            <a:pPr>
              <a:spcAft>
                <a:spcPts val="700"/>
              </a:spcAft>
              <a:defRPr sz="1900" b="0">
                <a:solidFill>
                  <a:srgbClr val="283640"/>
                </a:solidFill>
                <a:latin typeface="Aptos"/>
              </a:defRPr>
            </a:pPr>
            <a:r>
              <a:rPr dirty="0"/>
              <a:t>• HTTPS/TLS: handshake, certificate, SNI where visible, unusual destinations and repeated failures; payload is encrypted.</a:t>
            </a:r>
          </a:p>
          <a:p>
            <a:pPr>
              <a:spcAft>
                <a:spcPts val="700"/>
              </a:spcAft>
              <a:defRPr sz="1900" b="0">
                <a:solidFill>
                  <a:srgbClr val="283640"/>
                </a:solidFill>
                <a:latin typeface="Aptos"/>
              </a:defRPr>
            </a:pPr>
            <a:r>
              <a:rPr dirty="0"/>
              <a:t>• ARP: IP-to-MAC mapping changes, unsolicited replies and possible spoofing.</a:t>
            </a:r>
          </a:p>
          <a:p>
            <a:pPr>
              <a:spcAft>
                <a:spcPts val="700"/>
              </a:spcAft>
              <a:defRPr sz="1900" b="0">
                <a:solidFill>
                  <a:srgbClr val="283640"/>
                </a:solidFill>
                <a:latin typeface="Aptos"/>
              </a:defRPr>
            </a:pPr>
            <a:r>
              <a:rPr dirty="0"/>
              <a:t>• ICMP: echo request/reply patterns, sweeps, high volume or unusual payloads.</a:t>
            </a:r>
          </a:p>
          <a:p>
            <a:pPr>
              <a:spcAft>
                <a:spcPts val="700"/>
              </a:spcAft>
              <a:defRPr sz="1900" b="0">
                <a:solidFill>
                  <a:srgbClr val="283640"/>
                </a:solidFill>
                <a:latin typeface="Aptos"/>
              </a:defRPr>
            </a:pPr>
            <a:r>
              <a:rPr dirty="0"/>
              <a:t>• SMB: unexpected shares, authentication failures, cross-segment access and lateral movement patterns.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47885"/>
                </a:solidFill>
                <a:latin typeface="Aptos"/>
              </a:defRPr>
            </a:pPr>
            <a:r>
              <a:t>4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BF469E3-440B-ED87-E8D0-FA1E41B455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886" b="25382"/>
          <a:stretch>
            <a:fillRect/>
          </a:stretch>
        </p:blipFill>
        <p:spPr>
          <a:xfrm>
            <a:off x="4812030" y="1778508"/>
            <a:ext cx="7246620" cy="29135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59436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5324B"/>
                </a:solidFill>
                <a:latin typeface="Aptos"/>
              </a:defRPr>
            </a:pPr>
            <a:r>
              <a:t>Wireshark: capture vs display filters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11155680" cy="32004"/>
          </a:xfrm>
          <a:prstGeom prst="rect">
            <a:avLst/>
          </a:prstGeom>
          <a:solidFill>
            <a:srgbClr val="236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449051"/>
            <a:ext cx="10112693" cy="1531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83640"/>
                </a:solidFill>
                <a:latin typeface="Aptos"/>
              </a:defRPr>
            </a:pPr>
            <a:r>
              <a:rPr dirty="0"/>
              <a:t>• Capture filters run before recording and reduce which packets enter the capture file.</a:t>
            </a:r>
          </a:p>
          <a:p>
            <a:pPr>
              <a:spcAft>
                <a:spcPts val="700"/>
              </a:spcAft>
              <a:defRPr sz="1900" b="0">
                <a:solidFill>
                  <a:srgbClr val="283640"/>
                </a:solidFill>
                <a:latin typeface="Aptos"/>
              </a:defRPr>
            </a:pPr>
            <a:r>
              <a:rPr dirty="0"/>
              <a:t>• Display filters run after capture and only change which packets are shown.</a:t>
            </a:r>
          </a:p>
          <a:p>
            <a:pPr>
              <a:spcAft>
                <a:spcPts val="700"/>
              </a:spcAft>
              <a:defRPr sz="1900" b="0">
                <a:solidFill>
                  <a:srgbClr val="283640"/>
                </a:solidFill>
                <a:latin typeface="Aptos"/>
              </a:defRPr>
            </a:pPr>
            <a:r>
              <a:rPr dirty="0"/>
              <a:t>• Display examples: </a:t>
            </a:r>
            <a:r>
              <a:rPr dirty="0" err="1"/>
              <a:t>dns</a:t>
            </a:r>
            <a:r>
              <a:rPr dirty="0"/>
              <a:t> | </a:t>
            </a:r>
            <a:r>
              <a:rPr dirty="0" err="1"/>
              <a:t>http.request</a:t>
            </a:r>
            <a:r>
              <a:rPr dirty="0"/>
              <a:t> | </a:t>
            </a:r>
            <a:r>
              <a:rPr dirty="0" err="1"/>
              <a:t>icmp</a:t>
            </a:r>
            <a:r>
              <a:rPr dirty="0"/>
              <a:t> | </a:t>
            </a:r>
            <a:r>
              <a:rPr dirty="0" err="1"/>
              <a:t>tcp.flags.syn</a:t>
            </a:r>
            <a:r>
              <a:rPr dirty="0"/>
              <a:t> == 1 &amp;&amp; </a:t>
            </a:r>
            <a:r>
              <a:rPr dirty="0" err="1"/>
              <a:t>tcp.flags.ack</a:t>
            </a:r>
            <a:r>
              <a:rPr dirty="0"/>
              <a:t> == 0.</a:t>
            </a:r>
          </a:p>
          <a:p>
            <a:pPr>
              <a:spcAft>
                <a:spcPts val="700"/>
              </a:spcAft>
              <a:defRPr sz="1900" b="0">
                <a:solidFill>
                  <a:srgbClr val="283640"/>
                </a:solidFill>
                <a:latin typeface="Aptos"/>
              </a:defRPr>
            </a:pPr>
            <a:r>
              <a:rPr dirty="0"/>
              <a:t>• Use capture filters to limit collection; use display filters to investigate a saved PCAP.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3796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47885"/>
                </a:solidFill>
                <a:latin typeface="Aptos"/>
              </a:defRPr>
            </a:pPr>
            <a:r>
              <a:t>5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5E8C557-ECAA-0CB1-943D-B2E7B970D0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4521" y="3043975"/>
            <a:ext cx="8301038" cy="35854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63880" y="340999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5324B"/>
                </a:solidFill>
                <a:latin typeface="Aptos"/>
              </a:defRPr>
            </a:pPr>
            <a:r>
              <a:rPr dirty="0"/>
              <a:t>Nmap scan types and their footprint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3880" y="958399"/>
            <a:ext cx="11155680" cy="32004"/>
          </a:xfrm>
          <a:prstGeom prst="rect">
            <a:avLst/>
          </a:prstGeom>
          <a:solidFill>
            <a:srgbClr val="236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3880" y="1097177"/>
            <a:ext cx="10612755" cy="2587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83640"/>
                </a:solidFill>
                <a:latin typeface="Aptos"/>
              </a:defRPr>
            </a:pPr>
            <a:r>
              <a:rPr dirty="0"/>
              <a:t>• -</a:t>
            </a:r>
            <a:r>
              <a:rPr dirty="0" err="1"/>
              <a:t>sn</a:t>
            </a:r>
            <a:r>
              <a:rPr dirty="0"/>
              <a:t>: host discovery only; may use ARP, ICMP or TCP/UDP probes.</a:t>
            </a:r>
          </a:p>
          <a:p>
            <a:pPr>
              <a:spcAft>
                <a:spcPts val="700"/>
              </a:spcAft>
              <a:defRPr sz="1900" b="0">
                <a:solidFill>
                  <a:srgbClr val="283640"/>
                </a:solidFill>
                <a:latin typeface="Aptos"/>
              </a:defRPr>
            </a:pPr>
            <a:r>
              <a:rPr dirty="0"/>
              <a:t>• -</a:t>
            </a:r>
            <a:r>
              <a:rPr dirty="0" err="1"/>
              <a:t>sS</a:t>
            </a:r>
            <a:r>
              <a:rPr dirty="0"/>
              <a:t>: SYN/half-open scan; SYNs go out, open ports often answer SYN/ACK, closed ports often answer RST.</a:t>
            </a:r>
          </a:p>
          <a:p>
            <a:pPr>
              <a:spcAft>
                <a:spcPts val="700"/>
              </a:spcAft>
              <a:defRPr sz="1900" b="0">
                <a:solidFill>
                  <a:srgbClr val="283640"/>
                </a:solidFill>
                <a:latin typeface="Aptos"/>
              </a:defRPr>
            </a:pPr>
            <a:r>
              <a:rPr dirty="0"/>
              <a:t>• -</a:t>
            </a:r>
            <a:r>
              <a:rPr dirty="0" err="1"/>
              <a:t>sT</a:t>
            </a:r>
            <a:r>
              <a:rPr dirty="0"/>
              <a:t>: completes TCP connections using the OS connect() call.</a:t>
            </a:r>
          </a:p>
          <a:p>
            <a:pPr>
              <a:spcAft>
                <a:spcPts val="700"/>
              </a:spcAft>
              <a:defRPr sz="1900" b="0">
                <a:solidFill>
                  <a:srgbClr val="283640"/>
                </a:solidFill>
                <a:latin typeface="Aptos"/>
              </a:defRPr>
            </a:pPr>
            <a:r>
              <a:rPr dirty="0"/>
              <a:t>• -</a:t>
            </a:r>
            <a:r>
              <a:rPr dirty="0" err="1"/>
              <a:t>sU</a:t>
            </a:r>
            <a:r>
              <a:rPr dirty="0"/>
              <a:t>: UDP probes; ICMP port-unreachable can indicate a closed UDP port.</a:t>
            </a:r>
          </a:p>
          <a:p>
            <a:pPr>
              <a:spcAft>
                <a:spcPts val="700"/>
              </a:spcAft>
              <a:defRPr sz="1900" b="0">
                <a:solidFill>
                  <a:srgbClr val="283640"/>
                </a:solidFill>
                <a:latin typeface="Aptos"/>
              </a:defRPr>
            </a:pPr>
            <a:r>
              <a:rPr dirty="0"/>
              <a:t>• -</a:t>
            </a:r>
            <a:r>
              <a:rPr dirty="0" err="1"/>
              <a:t>sV</a:t>
            </a:r>
            <a:r>
              <a:rPr dirty="0"/>
              <a:t>: probes services to identify product/version; -O fingerprints the OS.</a:t>
            </a:r>
          </a:p>
          <a:p>
            <a:pPr>
              <a:spcAft>
                <a:spcPts val="700"/>
              </a:spcAft>
              <a:defRPr sz="1900" b="0">
                <a:solidFill>
                  <a:srgbClr val="283640"/>
                </a:solidFill>
                <a:latin typeface="Aptos"/>
              </a:defRPr>
            </a:pPr>
            <a:r>
              <a:rPr dirty="0"/>
              <a:t>• -A: combines OS detection, version detection, default scripts and traceroute; more visible activity.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3796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47885"/>
                </a:solidFill>
                <a:latin typeface="Aptos"/>
              </a:defRPr>
            </a:pPr>
            <a:r>
              <a:t>6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A3E0AC8-FFD0-9BF8-0172-07A6DD4DA6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057" y="3653537"/>
            <a:ext cx="4440555" cy="306730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B776D48-0285-DFB7-2E96-43D30290AC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6898" y="3602590"/>
            <a:ext cx="4635982" cy="31182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74320" y="416052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5324B"/>
                </a:solidFill>
                <a:latin typeface="Aptos"/>
              </a:defRPr>
            </a:pPr>
            <a:r>
              <a:rPr dirty="0"/>
              <a:t>Windows foundations and Event Viewer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14984"/>
            <a:ext cx="11155680" cy="32004"/>
          </a:xfrm>
          <a:prstGeom prst="rect">
            <a:avLst/>
          </a:prstGeom>
          <a:solidFill>
            <a:srgbClr val="236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1211580"/>
            <a:ext cx="9469755" cy="229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83640"/>
                </a:solidFill>
                <a:latin typeface="Aptos"/>
              </a:defRPr>
            </a:pPr>
            <a:r>
              <a:rPr dirty="0"/>
              <a:t>• Processes: running program instances with a PID and security context.</a:t>
            </a:r>
          </a:p>
          <a:p>
            <a:pPr>
              <a:spcAft>
                <a:spcPts val="700"/>
              </a:spcAft>
              <a:defRPr sz="1900" b="0">
                <a:solidFill>
                  <a:srgbClr val="283640"/>
                </a:solidFill>
                <a:latin typeface="Aptos"/>
              </a:defRPr>
            </a:pPr>
            <a:r>
              <a:rPr dirty="0"/>
              <a:t>• Services: background components managed by the Service Control Manager.</a:t>
            </a:r>
          </a:p>
          <a:p>
            <a:pPr>
              <a:spcAft>
                <a:spcPts val="700"/>
              </a:spcAft>
              <a:defRPr sz="1900" b="0">
                <a:solidFill>
                  <a:srgbClr val="283640"/>
                </a:solidFill>
                <a:latin typeface="Aptos"/>
              </a:defRPr>
            </a:pPr>
            <a:r>
              <a:rPr dirty="0"/>
              <a:t>• Registry: hierarchical store for Windows and application configuration.</a:t>
            </a:r>
          </a:p>
          <a:p>
            <a:pPr>
              <a:spcAft>
                <a:spcPts val="700"/>
              </a:spcAft>
              <a:defRPr sz="1900" b="0">
                <a:solidFill>
                  <a:srgbClr val="283640"/>
                </a:solidFill>
                <a:latin typeface="Aptos"/>
              </a:defRPr>
            </a:pPr>
            <a:r>
              <a:rPr dirty="0"/>
              <a:t>• Users/groups: identities and permission collections; Administrators is highly privileged.</a:t>
            </a:r>
          </a:p>
          <a:p>
            <a:pPr>
              <a:spcAft>
                <a:spcPts val="700"/>
              </a:spcAft>
              <a:defRPr sz="1900" b="0">
                <a:solidFill>
                  <a:srgbClr val="283640"/>
                </a:solidFill>
                <a:latin typeface="Aptos"/>
              </a:defRPr>
            </a:pPr>
            <a:r>
              <a:rPr dirty="0"/>
              <a:t>• UAC: helps prevent unintended elevation of privileges.</a:t>
            </a:r>
          </a:p>
          <a:p>
            <a:pPr>
              <a:spcAft>
                <a:spcPts val="700"/>
              </a:spcAft>
              <a:defRPr sz="1900" b="0">
                <a:solidFill>
                  <a:srgbClr val="283640"/>
                </a:solidFill>
                <a:latin typeface="Aptos"/>
              </a:defRPr>
            </a:pPr>
            <a:r>
              <a:rPr dirty="0"/>
              <a:t>• Event Viewer: Application (software), Security (audit), System (OS/services/drivers).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47885"/>
                </a:solidFill>
                <a:latin typeface="Aptos"/>
              </a:defRPr>
            </a:pPr>
            <a:r>
              <a:t>7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1F527E1-03D1-7CF5-170F-52A3F1C64E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9822"/>
          <a:stretch>
            <a:fillRect/>
          </a:stretch>
        </p:blipFill>
        <p:spPr>
          <a:xfrm>
            <a:off x="5657850" y="3671672"/>
            <a:ext cx="5863590" cy="22955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E450661-21F0-CCFC-8017-7C77CE5C76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2859"/>
          <a:stretch>
            <a:fillRect/>
          </a:stretch>
        </p:blipFill>
        <p:spPr>
          <a:xfrm>
            <a:off x="365759" y="3708248"/>
            <a:ext cx="4877593" cy="2295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594360"/>
            <a:ext cx="1106424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5324B"/>
                </a:solidFill>
                <a:latin typeface="Aptos"/>
              </a:defRPr>
            </a:pPr>
            <a:r>
              <a:rPr dirty="0"/>
              <a:t>Windows Security Event IDs: quick 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11155680" cy="32004"/>
          </a:xfrm>
          <a:prstGeom prst="rect">
            <a:avLst/>
          </a:prstGeom>
          <a:solidFill>
            <a:srgbClr val="236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899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83640"/>
                </a:solidFill>
                <a:latin typeface="Aptos"/>
              </a:defRPr>
            </a:pPr>
            <a:r>
              <a:t>• 4624 successful logon | 4625 failed logon | 4634 logoff | 4648 explicit credentials.</a:t>
            </a:r>
          </a:p>
          <a:p>
            <a:pPr>
              <a:spcAft>
                <a:spcPts val="700"/>
              </a:spcAft>
              <a:defRPr sz="1900" b="0">
                <a:solidFill>
                  <a:srgbClr val="283640"/>
                </a:solidFill>
                <a:latin typeface="Aptos"/>
              </a:defRPr>
            </a:pPr>
            <a:r>
              <a:t>• 4672 special privileges | 4688 process created | 4697 service installed.</a:t>
            </a:r>
          </a:p>
          <a:p>
            <a:pPr>
              <a:spcAft>
                <a:spcPts val="700"/>
              </a:spcAft>
              <a:defRPr sz="1900" b="0">
                <a:solidFill>
                  <a:srgbClr val="283640"/>
                </a:solidFill>
                <a:latin typeface="Aptos"/>
              </a:defRPr>
            </a:pPr>
            <a:r>
              <a:t>• 4720 account created | 4722 account enabled | 4724 password reset attempt.</a:t>
            </a:r>
          </a:p>
          <a:p>
            <a:pPr>
              <a:spcAft>
                <a:spcPts val="700"/>
              </a:spcAft>
              <a:defRPr sz="1900" b="0">
                <a:solidFill>
                  <a:srgbClr val="283640"/>
                </a:solidFill>
                <a:latin typeface="Aptos"/>
              </a:defRPr>
            </a:pPr>
            <a:r>
              <a:t>• 4732 member added to local security group.</a:t>
            </a:r>
          </a:p>
          <a:p>
            <a:pPr>
              <a:spcAft>
                <a:spcPts val="700"/>
              </a:spcAft>
              <a:defRPr sz="1900" b="0">
                <a:solidFill>
                  <a:srgbClr val="283640"/>
                </a:solidFill>
                <a:latin typeface="Aptos"/>
              </a:defRPr>
            </a:pPr>
            <a:r>
              <a:t>• 4768 Kerberos TGT requested | 4769 Kerberos service ticket requested.</a:t>
            </a:r>
          </a:p>
          <a:p>
            <a:pPr>
              <a:spcAft>
                <a:spcPts val="700"/>
              </a:spcAft>
              <a:defRPr sz="1900" b="0">
                <a:solidFill>
                  <a:srgbClr val="283640"/>
                </a:solidFill>
                <a:latin typeface="Aptos"/>
              </a:defRPr>
            </a:pPr>
            <a:r>
              <a:t>• 4776 NTLM credential validation | 1102 audit log cleared.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3796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47885"/>
                </a:solidFill>
                <a:latin typeface="Aptos"/>
              </a:defRPr>
            </a:pPr>
            <a:r>
              <a:t>8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F1DA87B-0ADF-964D-1A7E-53E634E411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255" y="3886200"/>
            <a:ext cx="4747329" cy="282462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52D6DEE-3944-9532-1420-4245E1F924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3150" y="3894561"/>
            <a:ext cx="4747330" cy="282627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59436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5324B"/>
                </a:solidFill>
                <a:latin typeface="Aptos"/>
              </a:defRPr>
            </a:pPr>
            <a:r>
              <a:t>Practical workflow and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11155680" cy="32004"/>
          </a:xfrm>
          <a:prstGeom prst="rect">
            <a:avLst/>
          </a:prstGeom>
          <a:solidFill>
            <a:srgbClr val="236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8620" y="1600200"/>
            <a:ext cx="10789920" cy="2587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700"/>
              </a:spcAft>
              <a:defRPr sz="1900" b="0">
                <a:solidFill>
                  <a:srgbClr val="283640"/>
                </a:solidFill>
                <a:latin typeface="Aptos"/>
              </a:defRPr>
            </a:pPr>
            <a:r>
              <a:rPr dirty="0"/>
              <a:t>• Traffic: capture TCP handshake, HTTP GET, DNS query and ICMP echo; save PCAP.</a:t>
            </a:r>
          </a:p>
          <a:p>
            <a:pPr algn="just">
              <a:spcAft>
                <a:spcPts val="700"/>
              </a:spcAft>
              <a:defRPr sz="1900" b="0">
                <a:solidFill>
                  <a:srgbClr val="283640"/>
                </a:solidFill>
                <a:latin typeface="Aptos"/>
              </a:defRPr>
            </a:pPr>
            <a:r>
              <a:rPr dirty="0"/>
              <a:t>• Nmap: run -</a:t>
            </a:r>
            <a:r>
              <a:rPr dirty="0" err="1"/>
              <a:t>sn</a:t>
            </a:r>
            <a:r>
              <a:rPr dirty="0"/>
              <a:t>, -</a:t>
            </a:r>
            <a:r>
              <a:rPr dirty="0" err="1"/>
              <a:t>sS</a:t>
            </a:r>
            <a:r>
              <a:rPr dirty="0"/>
              <a:t>, -</a:t>
            </a:r>
            <a:r>
              <a:rPr dirty="0" err="1"/>
              <a:t>sV</a:t>
            </a:r>
            <a:r>
              <a:rPr dirty="0"/>
              <a:t>, -O and -A against </a:t>
            </a:r>
            <a:r>
              <a:rPr dirty="0" err="1"/>
              <a:t>authorised</a:t>
            </a:r>
            <a:r>
              <a:rPr dirty="0"/>
              <a:t> Ubuntu and Windows VMs; save -</a:t>
            </a:r>
            <a:r>
              <a:rPr dirty="0" err="1"/>
              <a:t>oN</a:t>
            </a:r>
            <a:r>
              <a:rPr dirty="0"/>
              <a:t> and -</a:t>
            </a:r>
            <a:r>
              <a:rPr dirty="0" err="1"/>
              <a:t>oX</a:t>
            </a:r>
            <a:r>
              <a:rPr dirty="0"/>
              <a:t>.</a:t>
            </a:r>
          </a:p>
          <a:p>
            <a:pPr algn="just">
              <a:spcAft>
                <a:spcPts val="700"/>
              </a:spcAft>
              <a:defRPr sz="1900" b="0">
                <a:solidFill>
                  <a:srgbClr val="283640"/>
                </a:solidFill>
                <a:latin typeface="Aptos"/>
              </a:defRPr>
            </a:pPr>
            <a:r>
              <a:rPr dirty="0"/>
              <a:t>• Wireshark: inspect SYN scan using </a:t>
            </a:r>
            <a:r>
              <a:rPr dirty="0" err="1"/>
              <a:t>tcp.flags.syn</a:t>
            </a:r>
            <a:r>
              <a:rPr dirty="0"/>
              <a:t>==1 &amp;&amp; </a:t>
            </a:r>
            <a:r>
              <a:rPr dirty="0" err="1"/>
              <a:t>tcp.flags.ack</a:t>
            </a:r>
            <a:r>
              <a:rPr dirty="0"/>
              <a:t>==0.</a:t>
            </a:r>
          </a:p>
          <a:p>
            <a:pPr algn="just">
              <a:spcAft>
                <a:spcPts val="700"/>
              </a:spcAft>
              <a:defRPr sz="1900" b="0">
                <a:solidFill>
                  <a:srgbClr val="283640"/>
                </a:solidFill>
                <a:latin typeface="Aptos"/>
              </a:defRPr>
            </a:pPr>
            <a:r>
              <a:rPr dirty="0"/>
              <a:t>• Windows: collect 4625, 4624 with logon type, 4720, 4732, service install (7045) and 1102 in a controlled lab.</a:t>
            </a:r>
          </a:p>
          <a:p>
            <a:pPr algn="just">
              <a:spcAft>
                <a:spcPts val="700"/>
              </a:spcAft>
              <a:defRPr sz="1900" b="0">
                <a:solidFill>
                  <a:srgbClr val="283640"/>
                </a:solidFill>
                <a:latin typeface="Aptos"/>
              </a:defRPr>
            </a:pPr>
            <a:r>
              <a:rPr dirty="0"/>
              <a:t>• PowerShell: export 4625 events to CSV and group failure counts by account.</a:t>
            </a:r>
          </a:p>
          <a:p>
            <a:pPr algn="just">
              <a:spcAft>
                <a:spcPts val="700"/>
              </a:spcAft>
              <a:defRPr sz="1900" b="0">
                <a:solidFill>
                  <a:srgbClr val="283640"/>
                </a:solidFill>
                <a:latin typeface="Aptos"/>
              </a:defRPr>
            </a:pPr>
            <a:r>
              <a:rPr dirty="0"/>
              <a:t>• TryHackMe and sample PCAPs: save separate writeups with observations.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3796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47885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3627A"/>
                </a:solidFill>
                <a:latin typeface="Aptos"/>
              </a:defRPr>
            </a:pPr>
            <a:r>
              <a:t>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5324B"/>
                </a:solidFill>
                <a:latin typeface="Aptos"/>
              </a:defRPr>
            </a:pPr>
            <a:r>
              <a:t>Baseline: why normal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11155680" cy="32004"/>
          </a:xfrm>
          <a:prstGeom prst="rect">
            <a:avLst/>
          </a:prstGeom>
          <a:solidFill>
            <a:srgbClr val="236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899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83640"/>
                </a:solidFill>
                <a:latin typeface="Aptos"/>
              </a:defRPr>
            </a:pPr>
            <a:r>
              <a:t>• A baseline describes expected behaviour for a host, user, service, network segment or time period.</a:t>
            </a:r>
          </a:p>
          <a:p>
            <a:pPr>
              <a:spcAft>
                <a:spcPts val="700"/>
              </a:spcAft>
              <a:defRPr sz="1900" b="0">
                <a:solidFill>
                  <a:srgbClr val="283640"/>
                </a:solidFill>
                <a:latin typeface="Aptos"/>
              </a:defRPr>
            </a:pPr>
            <a:r>
              <a:t>• It includes normal destinations, ports, login times, service activity, traffic volume and process behaviour.</a:t>
            </a:r>
          </a:p>
          <a:p>
            <a:pPr>
              <a:spcAft>
                <a:spcPts val="700"/>
              </a:spcAft>
              <a:defRPr sz="1900" b="0">
                <a:solidFill>
                  <a:srgbClr val="283640"/>
                </a:solidFill>
                <a:latin typeface="Aptos"/>
              </a:defRPr>
            </a:pPr>
            <a:r>
              <a:t>• Without a baseline, legitimate administration can look suspicious and real anomalies can be missed.</a:t>
            </a:r>
          </a:p>
          <a:p>
            <a:pPr>
              <a:spcAft>
                <a:spcPts val="700"/>
              </a:spcAft>
              <a:defRPr sz="1900" b="0">
                <a:solidFill>
                  <a:srgbClr val="283640"/>
                </a:solidFill>
                <a:latin typeface="Aptos"/>
              </a:defRPr>
            </a:pPr>
            <a:r>
              <a:t>• Compare activity with role, asset criticality, time, source, frequency and historical patterns.</a:t>
            </a:r>
          </a:p>
          <a:p>
            <a:pPr>
              <a:spcAft>
                <a:spcPts val="700"/>
              </a:spcAft>
              <a:defRPr sz="1900" b="0">
                <a:solidFill>
                  <a:srgbClr val="283640"/>
                </a:solidFill>
                <a:latin typeface="Aptos"/>
              </a:defRPr>
            </a:pPr>
            <a:r>
              <a:t>• Escalate anomalies using multiple signals and supporting evidence—not one event in isolation.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47885"/>
                </a:solidFill>
                <a:latin typeface="Aptos"/>
              </a:defRPr>
            </a:pPr>
            <a:r>
              <a:t>DG Interns Hub | Network Traffic Analysis, Nmap and Windows Logging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47885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929</Words>
  <Application>Microsoft Office PowerPoint</Application>
  <PresentationFormat>Widescreen</PresentationFormat>
  <Paragraphs>76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Kunal Jain</cp:lastModifiedBy>
  <cp:revision>2</cp:revision>
  <dcterms:created xsi:type="dcterms:W3CDTF">2013-01-27T09:14:16Z</dcterms:created>
  <dcterms:modified xsi:type="dcterms:W3CDTF">2026-10-30T18:07:43Z</dcterms:modified>
  <cp:category/>
</cp:coreProperties>
</file>